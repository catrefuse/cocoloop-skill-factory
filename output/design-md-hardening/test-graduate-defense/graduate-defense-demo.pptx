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8229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7315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硕士学位论文答辩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11155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研究生毕业答辩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面向复杂场景的多模态学习方法研究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76656" y="299923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一句话结论：在复杂噪声和模态缺失条件下，方法仍能保持稳定提升。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" y="4370832"/>
            <a:ext cx="1920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答辩人 张某某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计算机科学与技术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指导教师 李某某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 4 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969264"/>
            <a:ext cx="2926080" cy="4553712"/>
          </a:xfrm>
          <a:prstGeom prst="roundRect">
            <a:avLst>
              <a:gd name="adj" fmla="val 5000"/>
            </a:avLst>
          </a:prstGeom>
          <a:solidFill>
            <a:srgbClr val="171A20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67344" y="14996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研究背景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67344" y="1755648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A1A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问题为什么成立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49056" y="2011680"/>
            <a:ext cx="2011680" cy="0"/>
          </a:xfrm>
          <a:prstGeom prst="line">
            <a:avLst/>
          </a:prstGeom>
          <a:noFill/>
          <a:ln w="12700">
            <a:solidFill>
              <a:srgbClr val="3B43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67344" y="24414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方法设计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67344" y="269748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A1A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框架如何搭建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49056" y="2953512"/>
            <a:ext cx="2011680" cy="0"/>
          </a:xfrm>
          <a:prstGeom prst="line">
            <a:avLst/>
          </a:prstGeom>
          <a:noFill/>
          <a:ln w="12700">
            <a:solidFill>
              <a:srgbClr val="3B43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33832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实验结果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67344" y="3639312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A1A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效果是否真实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49056" y="3895344"/>
            <a:ext cx="20116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344" y="432511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总结展望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67344" y="4581144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A1A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价值与下一步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49056" y="4837176"/>
            <a:ext cx="2011680" cy="0"/>
          </a:xfrm>
          <a:prstGeom prst="line">
            <a:avLst/>
          </a:prstGeom>
          <a:noFill/>
          <a:ln w="12700">
            <a:solidFill>
              <a:srgbClr val="3B435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8229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7315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硕士学位论文答辩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答辩结构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5910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先给结论，再展开方法、实验与价值。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" y="1975104"/>
            <a:ext cx="1005840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340864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3225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研究背景与问题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25696" y="23317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场景难点、问题边界、研究目标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" y="2688336"/>
            <a:ext cx="97840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218688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方法设计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25696" y="32095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框架、模块、核心机制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" y="3566160"/>
            <a:ext cx="97840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09651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40782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实验与结果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25696" y="40873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设置、指标、对比、消融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" y="4443984"/>
            <a:ext cx="97840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97433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4956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总结与展望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425696" y="49651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结论、价值、后续工作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" y="5321808"/>
            <a:ext cx="97840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58784" y="2304288"/>
            <a:ext cx="2121408" cy="2578608"/>
          </a:xfrm>
          <a:prstGeom prst="roundRect">
            <a:avLst>
              <a:gd name="adj" fmla="val 6034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51392" y="257860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答辩节奏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33104" y="2980944"/>
            <a:ext cx="109728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方法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结果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价值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155680" y="614476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8229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7315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硕士学位论文答辩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研究背景与问题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5910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问题页不再堆条目，而是先把难点拆成可见结构。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" y="1975104"/>
            <a:ext cx="1005840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40864"/>
            <a:ext cx="3182112" cy="2578608"/>
          </a:xfrm>
          <a:prstGeom prst="roundRect">
            <a:avLst>
              <a:gd name="adj" fmla="val 4255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9689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场景复杂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29626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多源异构输入同时存在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3529584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文本、图像、结构化特征共同决定结果。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7408" y="2340864"/>
            <a:ext cx="3182112" cy="2578608"/>
          </a:xfrm>
          <a:prstGeom prst="roundRect">
            <a:avLst>
              <a:gd name="adj" fmla="val 4255"/>
            </a:avLst>
          </a:prstGeom>
          <a:solidFill>
            <a:srgbClr val="EAF1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59689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噪声显著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9626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模态缺失与标签稀缺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3529584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真实场景中存在模态不完整与标注不足。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83296" y="2340864"/>
            <a:ext cx="3182112" cy="2578608"/>
          </a:xfrm>
          <a:prstGeom prst="roundRect">
            <a:avLst>
              <a:gd name="adj" fmla="val 4255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259689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对齐困难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9328" y="29626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共享语义空间不稳定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9328" y="3529584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模态之间很难在噪声条件下保持一致表达。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" y="541324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核心研究目标：在复杂场景和有限监督下，提升多模态学习的稳定性与泛化能力。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0" y="614476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8229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7315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硕士学位论文答辩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研究目标与论文贡献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5910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先给结论，再把贡献拆成三块独立可见的内容。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" y="1975104"/>
            <a:ext cx="1005840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37744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贡献一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7432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动态对齐机制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3401568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根据样本质量自适应调整模态权重。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4315968"/>
            <a:ext cx="2670048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237744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贡献二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07408" y="27432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一致性约束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07408" y="3401568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降低噪声扰动带来的语义漂移。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07408" y="4315968"/>
            <a:ext cx="2670048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237744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贡献三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65008" y="27432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完整实验验证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65008" y="3401568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在公开数据集和自建数据集上验证有效性。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65008" y="4315968"/>
            <a:ext cx="2670048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992624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这三项贡献共同回答了论文的核心问题：为什么方法有效，为什么结果可信。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0" y="614476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8229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7315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硕士学位论文答辩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方法总览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5910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方法页用流程图承接逻辑，不再只用段落描述模块关系。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" y="1975104"/>
            <a:ext cx="1005840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743200"/>
            <a:ext cx="1719072" cy="1060704"/>
          </a:xfrm>
          <a:prstGeom prst="roundRect">
            <a:avLst>
              <a:gd name="adj" fmla="val 8621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99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310128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 / 图像 / 结构化特征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3273552"/>
            <a:ext cx="42062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07792" y="2743200"/>
            <a:ext cx="1719072" cy="1060704"/>
          </a:xfrm>
          <a:prstGeom prst="roundRect">
            <a:avLst>
              <a:gd name="adj" fmla="val 8621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54096" y="2999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35808" y="3310128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独立提取多模态表示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3273552"/>
            <a:ext cx="42062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47488" y="2743200"/>
            <a:ext cx="1719072" cy="1060704"/>
          </a:xfrm>
          <a:prstGeom prst="roundRect">
            <a:avLst>
              <a:gd name="adj" fmla="val 8621"/>
            </a:avLst>
          </a:prstGeom>
          <a:solidFill>
            <a:srgbClr val="EAF1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2999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75504" y="3310128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动态对齐与权重聚合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3273552"/>
            <a:ext cx="42062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87184" y="2743200"/>
            <a:ext cx="1719072" cy="1060704"/>
          </a:xfrm>
          <a:prstGeom prst="roundRect">
            <a:avLst>
              <a:gd name="adj" fmla="val 8621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3488" y="2999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约束层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3310128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一致性损失与鲁棒训练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06256" y="3273552"/>
            <a:ext cx="420624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26880" y="2743200"/>
            <a:ext cx="1719072" cy="1060704"/>
          </a:xfrm>
          <a:prstGeom prst="roundRect">
            <a:avLst>
              <a:gd name="adj" fmla="val 8621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73184" y="2999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54896" y="3310128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分类结果与解释分析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" y="475488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方法主线：先分模态建模，再在融合层解决对齐问题，最后通过约束层稳住表示空间。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0" y="614476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8229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7315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硕士学位论文答辩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核心模块解析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5910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把重点模块拆成主结论、机制图和补充说明三层。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" y="1975104"/>
            <a:ext cx="1005840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87168"/>
            <a:ext cx="5029200" cy="2633472"/>
          </a:xfrm>
          <a:prstGeom prst="roundRect">
            <a:avLst>
              <a:gd name="adj" fmla="val 4167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962656"/>
            <a:ext cx="11155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3127248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样本质量评估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2962656"/>
            <a:ext cx="11155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3127248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模态权重更新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15968" y="2962656"/>
            <a:ext cx="11155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127248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融合结果输出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04288" y="3291840"/>
            <a:ext cx="43891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58768" y="3291840"/>
            <a:ext cx="457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345936" y="263347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主结论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45936" y="299923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动态对齐模块能够根据输入质量，自动降低低价值模态对结果的干扰。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64224" y="4059936"/>
            <a:ext cx="37490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机制一：</a:t>
            </a:r>
            <a:pPr indent="0" marL="0">
              <a:buNone/>
            </a:pPr>
            <a:r>
              <a:rPr lang="en-US" sz="12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根据样本质量动态调整模态权重。</a:t>
            </a:r>
            <a:pPr indent="0" marL="0">
              <a:buNone/>
            </a:pPr>
            <a:r>
              <a:rPr lang="en-US" sz="1200" b="1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机制二：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在模态缺失条件下保留主要判别信息。</a:t>
            </a:r>
            <a:pPr indent="0" marL="0">
              <a:buNone/>
            </a:pPr>
            <a:r>
              <a:rPr lang="en-US" sz="1200" b="1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机制三：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降低固定融合策略导致的性能波动。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0" y="614476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8229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7315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硕士学位论文答辩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实验设计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5910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实验页用卡片和结构图说明数据、对比方法与指标。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" y="1975104"/>
            <a:ext cx="1005840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487168"/>
            <a:ext cx="2907792" cy="137160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05409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公开数据集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自建数据集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33088" y="2487168"/>
            <a:ext cx="2907792" cy="137160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27432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对比方法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52544" y="305409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单模态基线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早期融合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后期融合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79792" y="2487168"/>
            <a:ext cx="2907792" cy="137160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9248" y="27432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评估指标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99248" y="305409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Accuracy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448056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评估逻辑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7824" y="4809744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50657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4809744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50657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40096" y="4809744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50657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71232" y="4809744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17536" y="50657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对比分析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40864" y="5157216"/>
            <a:ext cx="3840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0" y="5157216"/>
            <a:ext cx="3840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03136" y="5157216"/>
            <a:ext cx="38404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1155680" y="614476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8229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7315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硕士学位论文答辩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实验结果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5910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结果页先看指标卡，再看对比条，最后补一句结论。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" y="1975104"/>
            <a:ext cx="1005840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487168"/>
            <a:ext cx="3054096" cy="1444752"/>
          </a:xfrm>
          <a:prstGeom prst="roundRect">
            <a:avLst>
              <a:gd name="adj" fmla="val 6329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7432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" y="29992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+3.8%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87552" y="3419856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相对最优基线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5968" y="2487168"/>
            <a:ext cx="3054096" cy="1444752"/>
          </a:xfrm>
          <a:prstGeom prst="roundRect">
            <a:avLst>
              <a:gd name="adj" fmla="val 6329"/>
            </a:avLst>
          </a:prstGeom>
          <a:solidFill>
            <a:srgbClr val="EAF1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27432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98848" y="29992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+4.5%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517136" y="3419856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相对最优基线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45552" y="2487168"/>
            <a:ext cx="3054096" cy="1444752"/>
          </a:xfrm>
          <a:prstGeom prst="roundRect">
            <a:avLst>
              <a:gd name="adj" fmla="val 6329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7432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28432" y="29992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+2.9%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046720" y="3419856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相对最优基线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4480560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数据集 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00784" y="4517136"/>
            <a:ext cx="3555187" cy="164592"/>
          </a:xfrm>
          <a:prstGeom prst="rect">
            <a:avLst/>
          </a:prstGeom>
          <a:solidFill>
            <a:srgbClr val="B8C0CC"/>
          </a:solidFill>
          <a:ln w="12700">
            <a:solidFill>
              <a:srgbClr val="B8C0CC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00784" y="4791456"/>
            <a:ext cx="3774643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46227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 81%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47365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本文 86%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5102352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数据集 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00784" y="5138928"/>
            <a:ext cx="3423514" cy="164592"/>
          </a:xfrm>
          <a:prstGeom prst="rect">
            <a:avLst/>
          </a:prstGeom>
          <a:solidFill>
            <a:srgbClr val="B8C0CC"/>
          </a:solidFill>
          <a:ln w="12700">
            <a:solidFill>
              <a:srgbClr val="B8C0C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00784" y="5413248"/>
            <a:ext cx="3686861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508406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 78%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535838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本文 84%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4480560"/>
            <a:ext cx="3108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结果结论：提出方法在两个数据集上的主指标都取得最优，且模态缺失时优势更明显。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55680" y="614476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8229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7315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硕士学位论文答辩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消融与分析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5910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用矩阵表达模块作用，不再只列口头解释。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" y="1975104"/>
            <a:ext cx="1005840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2560320"/>
            <a:ext cx="2103120" cy="1078992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2926080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关闭动态对齐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0" y="2560320"/>
            <a:ext cx="2103120" cy="1078992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6672" y="2926080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关闭一致性约束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3639312"/>
            <a:ext cx="2103120" cy="1078992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0233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性能变化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3639312"/>
            <a:ext cx="2103120" cy="1078992"/>
          </a:xfrm>
          <a:prstGeom prst="roundRect">
            <a:avLst>
              <a:gd name="adj" fmla="val 5085"/>
            </a:avLst>
          </a:prstGeom>
          <a:solidFill>
            <a:srgbClr val="FFF4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39867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-2.8%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12080" y="3639312"/>
            <a:ext cx="210312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3986784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-1.9%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05840" y="4718304"/>
            <a:ext cx="2103120" cy="1078992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51023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鲁棒性变化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4718304"/>
            <a:ext cx="2103120" cy="1078992"/>
          </a:xfrm>
          <a:prstGeom prst="roundRect">
            <a:avLst>
              <a:gd name="adj" fmla="val 5085"/>
            </a:avLst>
          </a:prstGeom>
          <a:solidFill>
            <a:srgbClr val="FFF4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506577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显著下降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12080" y="4718304"/>
            <a:ext cx="210312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5065776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中度下降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818120" y="2999232"/>
            <a:ext cx="27432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1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解释：动态对齐模块对总体性能的贡献最大，一致性约束对复杂场景的稳定性贡献更明显。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27264" y="4443984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因此，方法有效性不是单点提升，而是结构层面的整体改善。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0" y="614476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30352"/>
            <a:ext cx="8229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7315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硕士学位论文答辩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6656" y="10789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86384" y="22677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26517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方法在复杂场景下保持稳定提升。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43984" y="22677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43984" y="26517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多模态动态对齐在真实任务中具有实践意义。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01584" y="22677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展望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01584" y="26517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继续扩展到更大规模和更低监督场景。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6384" y="4187952"/>
            <a:ext cx="9875520" cy="0"/>
          </a:xfrm>
          <a:prstGeom prst="line">
            <a:avLst/>
          </a:prstGeom>
          <a:noFill/>
          <a:ln w="12700">
            <a:solidFill>
              <a:srgbClr val="2D34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4681728"/>
            <a:ext cx="256032" cy="256032"/>
          </a:xfrm>
          <a:prstGeom prst="ellipse">
            <a:avLst/>
          </a:prstGeom>
          <a:solidFill>
            <a:srgbClr val="556071"/>
          </a:solidFill>
          <a:ln w="12700">
            <a:solidFill>
              <a:srgbClr val="5560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1872" y="4809744"/>
            <a:ext cx="2350008" cy="0"/>
          </a:xfrm>
          <a:prstGeom prst="line">
            <a:avLst/>
          </a:prstGeom>
          <a:noFill/>
          <a:ln w="15240">
            <a:solidFill>
              <a:srgbClr val="5560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0657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论文定稿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4681728"/>
            <a:ext cx="256032" cy="256032"/>
          </a:xfrm>
          <a:prstGeom prst="ellipse">
            <a:avLst/>
          </a:prstGeom>
          <a:solidFill>
            <a:srgbClr val="556071"/>
          </a:solidFill>
          <a:ln w="12700">
            <a:solidFill>
              <a:srgbClr val="5560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4809744"/>
            <a:ext cx="2350008" cy="0"/>
          </a:xfrm>
          <a:prstGeom prst="line">
            <a:avLst/>
          </a:prstGeom>
          <a:noFill/>
          <a:ln w="15240">
            <a:solidFill>
              <a:srgbClr val="5560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50657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答辩修改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4681728"/>
            <a:ext cx="256032" cy="256032"/>
          </a:xfrm>
          <a:prstGeom prst="ellipse">
            <a:avLst/>
          </a:prstGeom>
          <a:solidFill>
            <a:srgbClr val="556071"/>
          </a:solidFill>
          <a:ln w="12700">
            <a:solidFill>
              <a:srgbClr val="5560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3952" y="4809744"/>
            <a:ext cx="2350008" cy="0"/>
          </a:xfrm>
          <a:prstGeom prst="line">
            <a:avLst/>
          </a:prstGeom>
          <a:noFill/>
          <a:ln w="15240">
            <a:solidFill>
              <a:srgbClr val="5560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50657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代码开源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23960" y="468172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1080" y="50657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后续研究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" y="566928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感谢各位老师批评指正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5680" y="614476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研究生毕业答辩示例稿</dc:title>
  <dc:subject>Graduate defense presentation</dc:subject>
  <dc:creator>OpenAI Codex</dc:creator>
  <cp:lastModifiedBy>OpenAI Codex</cp:lastModifiedBy>
  <cp:revision>1</cp:revision>
  <dcterms:created xsi:type="dcterms:W3CDTF">2026-04-17T08:37:53Z</dcterms:created>
  <dcterms:modified xsi:type="dcterms:W3CDTF">2026-04-17T08:37:53Z</dcterms:modified>
</cp:coreProperties>
</file>